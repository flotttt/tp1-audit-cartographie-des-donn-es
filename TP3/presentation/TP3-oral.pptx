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Mastère DIA — Audit, cartographie et traitement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47088"/>
            <a:ext cx="82296" cy="196596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10512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2F2F4"/>
                </a:solidFill>
                <a:latin typeface="Calibri"/>
              </a:defRPr>
            </a:pPr>
            <a:r>
              <a:t>Audit, cartographie et pipeline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7004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8E8E99"/>
                </a:solidFill>
                <a:latin typeface="Calibri"/>
              </a:defRPr>
            </a:pPr>
            <a:r>
              <a:t>EONET (NASA)  ×  USGS — de la modélisation à l'audit qualité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1868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6B6F"/>
                </a:solidFill>
                <a:latin typeface="Consolas"/>
              </a:defRPr>
            </a:pPr>
            <a:r>
              <a:t>TP1  ·  TP2  ·  TP3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315968"/>
            <a:ext cx="1280160" cy="27432"/>
          </a:xfrm>
          <a:prstGeom prst="rect">
            <a:avLst/>
          </a:prstGeom>
          <a:solidFill>
            <a:srgbClr val="2E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553712"/>
            <a:ext cx="102412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2F2F4"/>
                </a:solidFill>
                <a:latin typeface="Calibri"/>
              </a:defRPr>
            </a:pPr>
            <a:r>
              <a:rPr dirty="0"/>
              <a:t>Mathis Chekraoui   ·   </a:t>
            </a:r>
            <a:r>
              <a:rPr lang="fr-FR" dirty="0"/>
              <a:t>Florian </a:t>
            </a:r>
            <a:r>
              <a:rPr lang="fr-FR" dirty="0" err="1"/>
              <a:t>Thubin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66928" y="5925312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1">
                <a:solidFill>
                  <a:srgbClr val="5E5E68"/>
                </a:solidFill>
                <a:latin typeface="Calibri"/>
              </a:defRPr>
            </a:pPr>
            <a:r>
              <a:t>Deux sources publiques, un pipeline temps réel, une qualité mesurée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761980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Sujet, sources et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Suivi des événements naturels dans le monde — feux, tempêtes, volcans, icebergs, séismes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523961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5391759" cy="237744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828800"/>
            <a:ext cx="45720" cy="47548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810512"/>
            <a:ext cx="484311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2F2F4"/>
                </a:solidFill>
                <a:latin typeface="Calibri"/>
              </a:defRPr>
            </a:pPr>
            <a:r>
              <a:t>EONET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39696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NASA · Earth Observatory Natural Event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0545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487168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50 événements ouverts par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852927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834639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JSON imbriqué — N catégories, N sources, N géométries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200399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6" y="3182111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/events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54787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fréquence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529584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toutes les 15 minutes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1627632"/>
            <a:ext cx="5391759" cy="237744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3007" y="1828800"/>
            <a:ext cx="45720" cy="47548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25615" y="1810512"/>
            <a:ext cx="484311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2F2F4"/>
                </a:solidFill>
                <a:latin typeface="Calibri"/>
              </a:defRPr>
            </a:pPr>
            <a:r>
              <a:t>USGS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5615" y="2139696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United States Geological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50545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4335" y="2487168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jusqu'à 500 séismes, magnitude ≥ 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2852927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4335" y="2834639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GeoJSON à plat — magnitude, profondeur, tsunami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5615" y="3200399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endpoint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4335" y="3182111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/fdsnws/event/1/query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5615" y="354787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E5E68"/>
                </a:solidFill>
                <a:latin typeface="Consolas"/>
              </a:defRPr>
            </a:pPr>
            <a:r>
              <a:t>fréquence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4335" y="3529584"/>
            <a:ext cx="3617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toutes les 15 minutes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87952"/>
            <a:ext cx="11057839" cy="1152144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4334256"/>
            <a:ext cx="45720" cy="85953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" y="433425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6B6F"/>
                </a:solidFill>
                <a:latin typeface="Consolas"/>
              </a:defRPr>
            </a:pPr>
            <a:r>
              <a:t>PROBLÉMATIQUE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4663440"/>
            <a:ext cx="1032631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2F2F4"/>
                </a:solidFill>
                <a:latin typeface="Calibri"/>
              </a:defRPr>
            </a:pPr>
            <a:r>
              <a:t>Comment rapprocher deux sources aux formats et aux périmètres différents dans un modèle relationnel propre, pour croiser les événements EONET avec l'activité sismique proche dans le temps et dans l'espace 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504688"/>
            <a:ext cx="11057839" cy="566928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5614416"/>
            <a:ext cx="45720" cy="347472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5641848"/>
            <a:ext cx="10509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2F2F4"/>
                </a:solidFill>
                <a:latin typeface="Calibri"/>
              </a:defRPr>
            </a:pPr>
            <a:r>
              <a:t>Le rapprochement : formule de haversine, rayon 500 km, fenêtre ± 7 jours — il n'existe dans aucune des deux sources, il fallait le construire.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TP1 —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Du JSON imbriqué EONET à un schéma relationnel normalisé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TP1 · Cartographie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2285942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RELATIONS CLÉS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48256"/>
            <a:ext cx="137160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148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E53A40"/>
                </a:solidFill>
                <a:latin typeface="Consolas"/>
              </a:defRPr>
            </a:pPr>
            <a:r>
              <a:t>1 —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2112" y="2048256"/>
            <a:ext cx="164592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157984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un event, plusieurs points datés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80944"/>
            <a:ext cx="137160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081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E53A40"/>
                </a:solidFill>
                <a:latin typeface="Consolas"/>
              </a:defRPr>
            </a:pPr>
            <a:r>
              <a:t>N —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2112" y="2980944"/>
            <a:ext cx="164592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3090672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table de jonction event_category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13632"/>
            <a:ext cx="137160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0142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E53A40"/>
                </a:solidFill>
                <a:latin typeface="Consolas"/>
              </a:defRPr>
            </a:pPr>
            <a:r>
              <a:t>N — 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82112" y="3913632"/>
            <a:ext cx="164592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4023360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table de jonction event_source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46320"/>
            <a:ext cx="137160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49469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E53A40"/>
                </a:solidFill>
                <a:latin typeface="Consolas"/>
              </a:defRPr>
            </a:pPr>
            <a:r>
              <a:t>N — 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82112" y="4846320"/>
            <a:ext cx="1645920" cy="438912"/>
          </a:xfrm>
          <a:prstGeom prst="roundRect">
            <a:avLst>
              <a:gd name="adj" fmla="val 400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150" b="1">
                <a:solidFill>
                  <a:srgbClr val="F2F2F4"/>
                </a:solidFill>
                <a:latin typeface="Calibri"/>
              </a:defRPr>
            </a:pPr>
            <a:r>
              <a:t>earthquake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336" y="4956048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via event_earthquake, calculé par Spark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1627632"/>
            <a:ext cx="4474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8 TABLES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0608" y="2048256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51695" y="2048256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category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0608" y="2542032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51695" y="2542032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geometry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50608" y="3035808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event_category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51695" y="3035808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event_source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0608" y="3529584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earthquake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51695" y="3529584"/>
            <a:ext cx="2173071" cy="402336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50" b="0">
                <a:solidFill>
                  <a:srgbClr val="8E8E99"/>
                </a:solidFill>
                <a:latin typeface="Consolas"/>
              </a:defRPr>
            </a:pPr>
            <a:r>
              <a:t>event_earthquake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50608" y="4151376"/>
            <a:ext cx="4474159" cy="179222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88352" y="4407408"/>
            <a:ext cx="41148" cy="21945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34656" y="4370832"/>
            <a:ext cx="38706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Contraintes en 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4864608"/>
            <a:ext cx="3834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PK et FK : intégrité référentielle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CHECK : formats d'URL, bornes de coordonnées et de magnitude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UNIQUE sur geometry : pas d'observation doublonnée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TP1 — Base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Docker Compose, trois services, une base opérationnelle au premier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TP1 · Cartographie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5486400" cy="95097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45720" cy="65836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81051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onsolas"/>
              </a:defRPr>
            </a:pPr>
            <a: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184708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6B6F"/>
                </a:solidFill>
                <a:latin typeface="Consolas"/>
              </a:defRPr>
            </a:pPr>
            <a:r>
              <a:t>PostgreSQL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762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init.sql joué au démarrage : tables, contraintes,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724912"/>
            <a:ext cx="5486400" cy="95097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871216"/>
            <a:ext cx="45720" cy="65836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9077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onsolas"/>
              </a:defRPr>
            </a:pPr>
            <a:r>
              <a:t>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294436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6B6F"/>
                </a:solidFill>
                <a:latin typeface="Consolas"/>
              </a:defRPr>
            </a:pPr>
            <a: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2735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extraction des API, upsert en base, boucle infinie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22191"/>
            <a:ext cx="5486400" cy="95097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3968496"/>
            <a:ext cx="45720" cy="65836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00507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onsolas"/>
              </a:defRPr>
            </a:pPr>
            <a:r>
              <a:t>pgadmin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404164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6B6F"/>
                </a:solidFill>
                <a:latin typeface="Consolas"/>
              </a:defRPr>
            </a:pPr>
            <a:r>
              <a:t>Administration 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370831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inspection de la base pendant le développement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627632"/>
            <a:ext cx="5297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LIVRABLES TP1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029968"/>
            <a:ext cx="529711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Cartographie des sources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Dictionnaire de données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Entités, relations et cardinalités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MCD et MLD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init.sql commenté + seed.sql de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4005072"/>
            <a:ext cx="5297119" cy="950976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187952"/>
            <a:ext cx="47850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F6B6F"/>
                </a:solidFill>
                <a:latin typeface="Consolas"/>
              </a:defRPr>
            </a:pPr>
            <a:r>
              <a:t>INSERT … ON CONFLICT DO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535424"/>
            <a:ext cx="47850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Idempotence : on relance le worker sans créer de doublon.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TP2 — Architecture 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16 conteneurs orchestrés par un unique docker-compose.yml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TP2 · 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3809904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847088"/>
            <a:ext cx="1481328" cy="420624"/>
          </a:xfrm>
          <a:prstGeom prst="roundRect">
            <a:avLst>
              <a:gd name="adj" fmla="val 35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2F2F4"/>
                </a:solidFill>
                <a:latin typeface="Calibri"/>
              </a:defRPr>
            </a:pPr>
            <a:r>
              <a:t>API EONET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340864"/>
            <a:ext cx="1481328" cy="420624"/>
          </a:xfrm>
          <a:prstGeom prst="roundRect">
            <a:avLst>
              <a:gd name="adj" fmla="val 3500"/>
            </a:avLst>
          </a:prstGeom>
          <a:solidFill>
            <a:srgbClr val="1F1F24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44144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2F2F4"/>
                </a:solidFill>
                <a:latin typeface="Calibri"/>
              </a:defRPr>
            </a:pPr>
            <a:r>
              <a:t>API USGS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14016" y="1847088"/>
            <a:ext cx="1481328" cy="914400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8C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14016" y="2066543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4016" y="2377440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onsolas"/>
              </a:defRPr>
            </a:pPr>
            <a:r>
              <a:t>2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847088"/>
            <a:ext cx="1481328" cy="9144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4" y="2066543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Data 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2377440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onsolas"/>
              </a:defRPr>
            </a:pPr>
            <a:r>
              <a:t>LocalStack · JSONL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1847088"/>
            <a:ext cx="1481328" cy="914400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8C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08192" y="2066543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PySpark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377440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onsolas"/>
              </a:defRPr>
            </a:pPr>
            <a:r>
              <a:t>batch 15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847088"/>
            <a:ext cx="1481328" cy="9144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2066543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377440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onsolas"/>
              </a:defRPr>
            </a:pPr>
            <a:r>
              <a:t>staging + public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02367" y="1847088"/>
            <a:ext cx="1481328" cy="9144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02367" y="2066543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Metabase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7" y="2377440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onsolas"/>
              </a:defRPr>
            </a:pPr>
            <a:r>
              <a:t>data viz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121408" y="2253996"/>
            <a:ext cx="219456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3968496" y="2253996"/>
            <a:ext cx="219456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5815584" y="2253996"/>
            <a:ext cx="219456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7662672" y="2253996"/>
            <a:ext cx="219456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9509760" y="2253996"/>
            <a:ext cx="219456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66928" y="3145536"/>
            <a:ext cx="11057839" cy="133502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334670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SUPERVISION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7" y="3712463"/>
            <a:ext cx="1819656" cy="457200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950" b="0">
                <a:solidFill>
                  <a:srgbClr val="8E8E99"/>
                </a:solidFill>
                <a:latin typeface="Consolas"/>
              </a:defRPr>
            </a:pPr>
            <a:r>
              <a:t>cAdvisor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52344" y="3712463"/>
            <a:ext cx="1819656" cy="457200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950" b="0">
                <a:solidFill>
                  <a:srgbClr val="8E8E99"/>
                </a:solidFill>
                <a:latin typeface="Consolas"/>
              </a:defRPr>
            </a:pPr>
            <a:r>
              <a:t>docker-stats-exporter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3712463"/>
            <a:ext cx="1819656" cy="457200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950" b="0">
                <a:solidFill>
                  <a:srgbClr val="8E8E99"/>
                </a:solidFill>
                <a:latin typeface="Consolas"/>
              </a:defRPr>
            </a:pPr>
            <a:r>
              <a:t>postgres-exporter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74536" y="3712463"/>
            <a:ext cx="1819656" cy="457200"/>
          </a:xfrm>
          <a:prstGeom prst="roundRect">
            <a:avLst>
              <a:gd name="adj" fmla="val 40000"/>
            </a:avLst>
          </a:prstGeom>
          <a:solidFill>
            <a:srgbClr val="141418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950" b="0">
                <a:solidFill>
                  <a:srgbClr val="8E8E99"/>
                </a:solidFill>
                <a:latin typeface="Consolas"/>
              </a:defRPr>
            </a:pPr>
            <a:r>
              <a:t>pipeline-exporter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467344" y="3890772"/>
            <a:ext cx="274320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814816" y="3712463"/>
            <a:ext cx="1188720" cy="457200"/>
          </a:xfrm>
          <a:prstGeom prst="roundRect">
            <a:avLst>
              <a:gd name="adj" fmla="val 40000"/>
            </a:avLst>
          </a:prstGeom>
          <a:solidFill>
            <a:srgbClr val="241113"/>
          </a:solidFill>
          <a:ln w="12700">
            <a:solidFill>
              <a:srgbClr val="8C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00" b="1">
                <a:solidFill>
                  <a:srgbClr val="FF6B6F"/>
                </a:solidFill>
                <a:latin typeface="Calibri"/>
              </a:defRPr>
            </a:pPr>
            <a:r>
              <a:t>Prometheus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076688" y="3890772"/>
            <a:ext cx="274320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424160" y="3712463"/>
            <a:ext cx="932688" cy="457200"/>
          </a:xfrm>
          <a:prstGeom prst="roundRect">
            <a:avLst>
              <a:gd name="adj" fmla="val 40000"/>
            </a:avLst>
          </a:prstGeom>
          <a:solidFill>
            <a:srgbClr val="241113"/>
          </a:solidFill>
          <a:ln w="12700">
            <a:solidFill>
              <a:srgbClr val="8C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defRPr sz="1000" b="1">
                <a:solidFill>
                  <a:srgbClr val="FF6B6F"/>
                </a:solidFill>
                <a:latin typeface="Calibri"/>
              </a:defRPr>
            </a:pPr>
            <a:r>
              <a:t>Grafana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718304"/>
            <a:ext cx="3576218" cy="109728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7" y="486460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E53A40"/>
                </a:solidFill>
                <a:latin typeface="Calibri Light"/>
              </a:defRPr>
            </a:pPr>
            <a: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8528" y="5157216"/>
            <a:ext cx="19302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8E8E99"/>
                </a:solidFill>
                <a:latin typeface="Calibri"/>
              </a:defRPr>
            </a:pPr>
            <a:r>
              <a:t>conteneurs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07738" y="4718304"/>
            <a:ext cx="3576218" cy="109728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82058" y="486460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E53A40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79338" y="5157216"/>
            <a:ext cx="19302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8E8E99"/>
                </a:solidFill>
                <a:latin typeface="Calibri"/>
              </a:defRPr>
            </a:pPr>
            <a:r>
              <a:t>docker-compose.yml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8548" y="4718304"/>
            <a:ext cx="3576218" cy="109728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2868" y="486460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E53A40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20148" y="5157216"/>
            <a:ext cx="19302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8E8E99"/>
                </a:solidFill>
                <a:latin typeface="Calibri"/>
              </a:defRPr>
            </a:pPr>
            <a:r>
              <a:t>commande : ./start.sh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TP2 — Ingestion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Deux producers, un pattern d'ingestion homogène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TP2 · 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4571885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5391759" cy="151790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810512"/>
            <a:ext cx="45720" cy="38404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792224"/>
            <a:ext cx="48431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alibri"/>
              </a:defRPr>
            </a:pPr>
            <a:r>
              <a:t>Producer EONET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6B6F"/>
                </a:solidFill>
                <a:latin typeface="Consolas"/>
              </a:defRPr>
            </a:pPr>
            <a:r>
              <a:t>eonet.events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542032"/>
            <a:ext cx="48431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onsolas"/>
              </a:defRPr>
            </a:pPr>
            <a:r>
              <a:t>key = event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798064"/>
            <a:ext cx="48431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onsolas"/>
              </a:defRPr>
            </a:pPr>
            <a:r>
              <a:t>50 messages toutes les 15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627632"/>
            <a:ext cx="5391759" cy="151790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3007" y="1810512"/>
            <a:ext cx="45720" cy="38404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7327" y="1792224"/>
            <a:ext cx="48431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alibri"/>
              </a:defRPr>
            </a:pPr>
            <a:r>
              <a:t>Producer USGS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194560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6B6F"/>
                </a:solidFill>
                <a:latin typeface="Consolas"/>
              </a:defRPr>
            </a:pPr>
            <a:r>
              <a:t>usgs.earthquakes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2542032"/>
            <a:ext cx="48431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onsolas"/>
              </a:defRPr>
            </a:pPr>
            <a:r>
              <a:t>key = séisme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798064"/>
            <a:ext cx="48431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onsolas"/>
              </a:defRPr>
            </a:pPr>
            <a:r>
              <a:t>500 messages toutes les 15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4991"/>
            <a:ext cx="11057839" cy="106070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7" y="3584448"/>
            <a:ext cx="41148" cy="21945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1" y="3547872"/>
            <a:ext cx="103628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Broker Apache Kafka 3.9 — mode KRaft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986783"/>
            <a:ext cx="10234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Mono-broker, sans Zookeeper. Healthcheck sur kafka-broker-api-versions pour que les services aval sachent quand le broker accepte les connexions. Kafka UI exposé sur le port 8080.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63440"/>
            <a:ext cx="3576218" cy="13716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663440"/>
            <a:ext cx="3576218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901183"/>
            <a:ext cx="30641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F2F2F4"/>
                </a:solidFill>
                <a:latin typeface="Calibri"/>
              </a:defRPr>
            </a:pPr>
            <a:r>
              <a:t>Découplage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66944"/>
            <a:ext cx="306415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Si PostgreSQL tombe, les messages restent dans Kafka et sont rattrapés au reboot.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7738" y="4663440"/>
            <a:ext cx="3576218" cy="13716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7738" y="4663440"/>
            <a:ext cx="3576218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63770" y="4901183"/>
            <a:ext cx="30641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F2F2F4"/>
                </a:solidFill>
                <a:latin typeface="Calibri"/>
              </a:defRPr>
            </a:pPr>
            <a:r>
              <a:t>Rejeu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3770" y="5266944"/>
            <a:ext cx="306415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Un nouveau consumer relit tout l'historique sans qu'on touche aux producers.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8548" y="4663440"/>
            <a:ext cx="3576218" cy="13716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8548" y="4663440"/>
            <a:ext cx="3576218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04580" y="4901183"/>
            <a:ext cx="30641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F2F2F4"/>
                </a:solidFill>
                <a:latin typeface="Calibri"/>
              </a:defRPr>
            </a:pPr>
            <a:r>
              <a:t>Choix assumé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4580" y="5266944"/>
            <a:ext cx="306415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Le brief autorisait la source 2 en batch — on a tout passé en Kafka pour un seul pattern.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TP2 — Data Lake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LocalStack, un serveur compatible S3 lancé en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TP2 · 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5333866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6035040" cy="3017520"/>
          </a:xfrm>
          <a:prstGeom prst="roundRect">
            <a:avLst>
              <a:gd name="adj" fmla="val 3500"/>
            </a:avLst>
          </a:prstGeom>
          <a:solidFill>
            <a:srgbClr val="0F0F12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E5E68"/>
                </a:solidFill>
                <a:latin typeface="Consolas"/>
              </a:defRPr>
            </a:pPr>
            <a:r>
              <a:t>bucket  raw/  —  partitionnement Hive-style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57984"/>
            <a:ext cx="5577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F2F2F4"/>
                </a:solidFill>
                <a:latin typeface="Consolas"/>
              </a:defRPr>
            </a:pPr>
            <a:r>
              <a:t>raw/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onsolas"/>
              </a:defRPr>
            </a:pPr>
            <a:r>
              <a:t>  eonet/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E5E68"/>
                </a:solidFill>
                <a:latin typeface="Consolas"/>
              </a:defRPr>
            </a:pPr>
            <a:r>
              <a:t>    year=2026/month=09/day=25/hour=09/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FF6B6F"/>
                </a:solidFill>
                <a:latin typeface="Consolas"/>
              </a:defRPr>
            </a:pPr>
            <a:r>
              <a:t>      eonet-20260925T091120Z-....jsonl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onsolas"/>
              </a:defRPr>
            </a:pPr>
            <a:r>
              <a:t>  usgs/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E5E68"/>
                </a:solidFill>
                <a:latin typeface="Consolas"/>
              </a:defRPr>
            </a:pPr>
            <a:r>
              <a:t>    year=2026/month=09/day=25/hour=09/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FF6B6F"/>
                </a:solidFill>
                <a:latin typeface="Consolas"/>
              </a:defRPr>
            </a:pPr>
            <a:r>
              <a:t>      usgs-20260925T091017Z-....jsonl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627632"/>
            <a:ext cx="4748479" cy="13716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1865376"/>
            <a:ext cx="41148" cy="21945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78624" y="1828800"/>
            <a:ext cx="41449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Consumer Kafka →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2103120"/>
            <a:ext cx="4144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service datalake-writer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2432304"/>
            <a:ext cx="4016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Batch adaptatif : écriture dès 200 messages ou 30 secondes. Format JSONL, une ligne par message.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3200400"/>
            <a:ext cx="4748479" cy="1444752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3401568"/>
            <a:ext cx="4291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POURQUOI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67328"/>
            <a:ext cx="4236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API standard : boto3 et PySpark s3a, mêmes appels qu'en production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Portable vers AWS : on change l'endpoint et les credentials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Local et jetable : un conteneur du compose, aucun compte cloud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37760"/>
            <a:ext cx="11057839" cy="87782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5084064"/>
            <a:ext cx="45720" cy="58521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5120640"/>
            <a:ext cx="104726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Source de vérité brute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431536"/>
            <a:ext cx="104726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Retraitement à l'infini sans re-fetch des API — et le partitionnement permet à Spark de ne lire que les partitions utiles.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TP2 — Traitement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Un job en boucle, toutes les 15 minutes — Spark 3.5.3, mode local[*]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TP2 · 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8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6095847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2094524" cy="160934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810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E53A4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94560"/>
            <a:ext cx="16556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23744"/>
            <a:ext cx="165561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s3a://raw/eonet</a:t>
            </a:r>
            <a:br/>
            <a:r>
              <a:t>et /usgs, récursif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756" y="1627632"/>
            <a:ext cx="2094524" cy="1609344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8C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7212" y="1810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E53A4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7212" y="2194560"/>
            <a:ext cx="16556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Écriture brute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7212" y="2523744"/>
            <a:ext cx="165561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staging.*</a:t>
            </a:r>
            <a:br/>
            <a:r>
              <a:t>sans nettoyage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8585" y="1627632"/>
            <a:ext cx="2094524" cy="160934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68041" y="1810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E53A4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8041" y="2194560"/>
            <a:ext cx="16556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Nettoyage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8041" y="2523744"/>
            <a:ext cx="165561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types, dédup sur id,</a:t>
            </a:r>
            <a:br/>
            <a:r>
              <a:t>filtres de validité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89413" y="1627632"/>
            <a:ext cx="2094524" cy="160934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08869" y="1810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E53A40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8869" y="2194560"/>
            <a:ext cx="16556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Chargement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8869" y="2523744"/>
            <a:ext cx="165561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public.*</a:t>
            </a:r>
            <a:br/>
            <a:r>
              <a:t>via JDBC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30242" y="1627632"/>
            <a:ext cx="2094524" cy="160934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49698" y="1810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E53A40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9698" y="2194560"/>
            <a:ext cx="16556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Agrégation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9698" y="2523744"/>
            <a:ext cx="165561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haversine</a:t>
            </a:r>
            <a:br/>
            <a:r>
              <a:t>500 km / ± 7 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41985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1">
                <a:solidFill>
                  <a:srgbClr val="FF6B6F"/>
                </a:solidFill>
                <a:latin typeface="Calibri"/>
              </a:defRPr>
            </a:pPr>
            <a:r>
              <a:t>L'étape 02 est ce qui rend le TP3 possible : la donnée brute est matérialisée avant tout filtrage.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77056"/>
            <a:ext cx="3576218" cy="11338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4005072"/>
            <a:ext cx="3027578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E53A40"/>
                </a:solidFill>
                <a:latin typeface="Calibri Light"/>
              </a:defRPr>
            </a:pPr>
            <a: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663440"/>
            <a:ext cx="30275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events EONET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7738" y="3877056"/>
            <a:ext cx="3576218" cy="11338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82058" y="4005072"/>
            <a:ext cx="3027578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E53A40"/>
                </a:solidFill>
                <a:latin typeface="Calibri Light"/>
              </a:defRPr>
            </a:pPr>
            <a:r>
              <a:t>486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2058" y="4663440"/>
            <a:ext cx="30275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séismes USGS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8548" y="3877056"/>
            <a:ext cx="3576218" cy="11338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2868" y="4005072"/>
            <a:ext cx="3027578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E53A40"/>
                </a:solidFill>
                <a:latin typeface="Calibri Light"/>
              </a:defRPr>
            </a:pPr>
            <a: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2868" y="4663440"/>
            <a:ext cx="30275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rapprochements détectés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17550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Chiffres du dernier run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449824"/>
            <a:ext cx="11057839" cy="786384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" y="5577840"/>
            <a:ext cx="45720" cy="530352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687568"/>
            <a:ext cx="10509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Exemple de rapprochement : ouragan Polo (Mexique) ↔ séisme M 5.3 au large du Michoacán, à 39 km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TP2 — Data Viz Metabase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Auto-provisionnement complet au premier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TP2 · 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6857828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e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627632"/>
            <a:ext cx="4279392" cy="4265777"/>
          </a:xfrm>
          <a:prstGeom prst="rect">
            <a:avLst/>
          </a:prstGeom>
          <a:ln w="12700">
            <a:solidFill>
              <a:srgbClr val="2E2E35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566928" y="1627632"/>
            <a:ext cx="6504127" cy="197510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7" y="1883664"/>
            <a:ext cx="41148" cy="21945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1" y="1847088"/>
            <a:ext cx="58091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Service metabase-init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3911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53A4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377440"/>
            <a:ext cx="249311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Attend que Metabase soit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277520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53A4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761488"/>
            <a:ext cx="249311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Setup admin via l'API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15925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53A4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145536"/>
            <a:ext cx="249311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Ajoute la connexion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4439" y="23911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53A40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1911" y="2377440"/>
            <a:ext cx="249311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Crée 12 questions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4439" y="277520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53A40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1911" y="2761488"/>
            <a:ext cx="249311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Crée le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4439" y="315925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53A40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1911" y="3145536"/>
            <a:ext cx="249311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Y attache les 12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85615"/>
            <a:ext cx="6504127" cy="118872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986783"/>
            <a:ext cx="59554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LE DASHBOARD « TP2 EONET VS USGS 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33425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E53A40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1" y="4407407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KPIs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9424" y="433425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E53A40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4407407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graphes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33425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E53A40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6784" y="4407407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cartes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5776" y="433425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E53A40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407407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table de rapprochements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57216"/>
            <a:ext cx="6504127" cy="749808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" y="5285231"/>
            <a:ext cx="45720" cy="493775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5248655"/>
            <a:ext cx="59554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Zéro clic manuel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541264"/>
            <a:ext cx="5955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Cloner le repo, lancer ./start.sh, ouvrir localhost:3000/dashboard/2 — tout est déjà en 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TP2 — Monitoring et indicateur Raw vs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Prometheus, Grafana et quatre exporters dont deux écrits pour le TP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TP2 · 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7619809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2654731" cy="124358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792224"/>
            <a:ext cx="22158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2F2F4"/>
                </a:solidFill>
                <a:latin typeface="Consolas"/>
              </a:defRPr>
            </a:pPr>
            <a:r>
              <a:t>cAdvisor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57984"/>
            <a:ext cx="22158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E5E68"/>
                </a:solidFill>
                <a:latin typeface="Consolas"/>
              </a:defRPr>
            </a:pPr>
            <a:r>
              <a:t>image 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32304"/>
            <a:ext cx="221581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état des conteneurs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963" y="1627632"/>
            <a:ext cx="2654731" cy="1243584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8C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7419" y="1792224"/>
            <a:ext cx="22158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2F2F4"/>
                </a:solidFill>
                <a:latin typeface="Consolas"/>
              </a:defRPr>
            </a:pPr>
            <a:r>
              <a:t>docker-stats-exporter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7419" y="2157984"/>
            <a:ext cx="22158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6B6F"/>
                </a:solidFill>
                <a:latin typeface="Consolas"/>
              </a:defRPr>
            </a:pPr>
            <a:r>
              <a:t>maison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7419" y="2432304"/>
            <a:ext cx="221581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CPU / RAM via l'API Docker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999" y="1627632"/>
            <a:ext cx="2654731" cy="124358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8455" y="1792224"/>
            <a:ext cx="22158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2F2F4"/>
                </a:solidFill>
                <a:latin typeface="Consolas"/>
              </a:defRPr>
            </a:pPr>
            <a:r>
              <a:t>postgres-exporter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55" y="2157984"/>
            <a:ext cx="22158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E5E68"/>
                </a:solidFill>
                <a:latin typeface="Consolas"/>
              </a:defRPr>
            </a:pPr>
            <a:r>
              <a:t>officiel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2432304"/>
            <a:ext cx="221581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connexions, taille, activité 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035" y="1627632"/>
            <a:ext cx="2654731" cy="1243584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8C1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491" y="1792224"/>
            <a:ext cx="22158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2F2F4"/>
                </a:solidFill>
                <a:latin typeface="Consolas"/>
              </a:defRPr>
            </a:pPr>
            <a:r>
              <a:t>pipeline-exporter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491" y="2157984"/>
            <a:ext cx="22158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6B6F"/>
                </a:solidFill>
                <a:latin typeface="Consolas"/>
              </a:defRPr>
            </a:pPr>
            <a:r>
              <a:t>maison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491" y="2432304"/>
            <a:ext cx="221581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raw_lines_total / clean_rows_total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72384"/>
            <a:ext cx="11057839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2552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L'INDICATEUR EXIGÉ PAR LE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60273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F6B6F"/>
                </a:solidFill>
                <a:latin typeface="Consolas"/>
              </a:defRPr>
            </a:pPr>
            <a:r>
              <a:t>pipeline_raw_lines_total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36118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lignes JSONL comptées dans 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60273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F6B6F"/>
                </a:solidFill>
                <a:latin typeface="Consolas"/>
              </a:defRPr>
            </a:pPr>
            <a:r>
              <a:t>pipeline_clean_rows_total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36118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lignes comptées dans PostgreSQL</a:t>
            </a:r>
          </a:p>
        </p:txBody>
      </p:sp>
      <p:pic>
        <p:nvPicPr>
          <p:cNvPr id="32" name="Picture 31" descr="grafana-raw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42816"/>
            <a:ext cx="11057839" cy="1299506"/>
          </a:xfrm>
          <a:prstGeom prst="rect">
            <a:avLst/>
          </a:prstGeom>
          <a:ln w="12700">
            <a:solidFill>
              <a:srgbClr val="2E2E35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66928" y="57607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5E5E68"/>
                </a:solidFill>
                <a:latin typeface="Calibri"/>
              </a:defRPr>
            </a:pPr>
            <a:r>
              <a:t>Panel « Raw vs Clean » du dashboard Grafana — auto-provisionné, 9 panels, JSON livré dans le repo et chargé au boot.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TP3 — La qualité,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Spark filtrait déjà, mais sans aucune traçabilité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TP3 · Audit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8381790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5391759" cy="2286000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47088"/>
            <a:ext cx="48431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6B6F"/>
                </a:solidFill>
                <a:latin typeface="Consolas"/>
              </a:defRPr>
            </a:pPr>
            <a:r>
              <a:t>LE PROBLÈME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04288"/>
            <a:ext cx="484311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public.* est propre — mais pourquoi ?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Spark filtre silencieusement en amont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Aucune trace de ce qui a été écarté, ni du volume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Aucune mesure de la qualité, donc aucune preuve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627632"/>
            <a:ext cx="5391759" cy="22860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7327" y="1847088"/>
            <a:ext cx="48431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NOTRE APPROCHE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84311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Matérialiser l'« avant » : schéma staging sans aucune contrainte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Spark écrit d'abord le brut dans staging, puis le propre dans public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Matrice de 32 contrôles SQL sur 5 dimensions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— Chaque exécution laisse une trace datée dans data_quality_report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87952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LES 5 DIMENSIONS COUVERTES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53712"/>
            <a:ext cx="2094524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553712"/>
            <a:ext cx="2094524" cy="54864"/>
          </a:xfrm>
          <a:prstGeom prst="rect">
            <a:avLst/>
          </a:prstGeom>
          <a:solidFill>
            <a:srgbClr val="FF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718304"/>
            <a:ext cx="17287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2F2F4"/>
                </a:solidFill>
                <a:latin typeface="Calibri"/>
              </a:defRPr>
            </a:pPr>
            <a:r>
              <a:t>Complétude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10912"/>
            <a:ext cx="17287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champs obligatoires renseignés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7756" y="4553712"/>
            <a:ext cx="2094524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07756" y="4553712"/>
            <a:ext cx="2094524" cy="54864"/>
          </a:xfrm>
          <a:prstGeom prst="rect">
            <a:avLst/>
          </a:prstGeom>
          <a:solidFill>
            <a:srgbClr val="F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90636" y="4718304"/>
            <a:ext cx="17287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2F2F4"/>
                </a:solidFill>
                <a:latin typeface="Calibri"/>
              </a:defRPr>
            </a:pPr>
            <a:r>
              <a:t>Unicité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636" y="5010912"/>
            <a:ext cx="17287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doublons stricts ou fuzzy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8585" y="4553712"/>
            <a:ext cx="2094524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48585" y="4553712"/>
            <a:ext cx="2094524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31465" y="4718304"/>
            <a:ext cx="17287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2F2F4"/>
                </a:solidFill>
                <a:latin typeface="Calibri"/>
              </a:defRPr>
            </a:pPr>
            <a:r>
              <a:t>Validité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1465" y="5010912"/>
            <a:ext cx="17287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formats et bornes respectés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89413" y="4553712"/>
            <a:ext cx="2094524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89413" y="4553712"/>
            <a:ext cx="2094524" cy="54864"/>
          </a:xfrm>
          <a:prstGeom prst="rect">
            <a:avLst/>
          </a:prstGeom>
          <a:solidFill>
            <a:srgbClr val="B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2293" y="4718304"/>
            <a:ext cx="17287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2F2F4"/>
                </a:solidFill>
                <a:latin typeface="Calibri"/>
              </a:defRPr>
            </a:pPr>
            <a:r>
              <a:t>Cohérence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2293" y="5010912"/>
            <a:ext cx="17287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valeurs logiques entre elles 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0242" y="4553712"/>
            <a:ext cx="2094524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30242" y="4553712"/>
            <a:ext cx="2094524" cy="54864"/>
          </a:xfrm>
          <a:prstGeom prst="rect">
            <a:avLst/>
          </a:prstGeom>
          <a:solidFill>
            <a:srgbClr val="7E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13122" y="4718304"/>
            <a:ext cx="17287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2F2F4"/>
                </a:solidFill>
                <a:latin typeface="Calibri"/>
              </a:defRPr>
            </a:pPr>
            <a:r>
              <a:t>Intégrité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3122" y="5010912"/>
            <a:ext cx="17287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les FK pointent vers du réel 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669280"/>
            <a:ext cx="11057839" cy="566928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5797296"/>
            <a:ext cx="45720" cy="31089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797296"/>
            <a:ext cx="10509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2F2F4"/>
                </a:solidFill>
                <a:latin typeface="Calibri"/>
              </a:defRPr>
            </a:pPr>
            <a:r>
              <a:t>Une seule métrique fait foi : failing_rows &gt; 0 signifie anomalie détectée.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TP3 — Matrice des 32 contrôles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Cinq dimensions, une seule fonction PL/pgSQL générique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TP3 · Audit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12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9143771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6675120" cy="6766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54864" cy="676656"/>
          </a:xfrm>
          <a:prstGeom prst="rect">
            <a:avLst/>
          </a:prstGeom>
          <a:solidFill>
            <a:srgbClr val="FF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82880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Complétude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755648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CBCD"/>
                </a:solidFill>
                <a:latin typeface="Calibri Light"/>
              </a:defRPr>
            </a:pPr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847088"/>
            <a:ext cx="38404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title non vide, coordonnées renseignées, magnitude présente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32304"/>
            <a:ext cx="6675120" cy="6766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432304"/>
            <a:ext cx="54864" cy="676656"/>
          </a:xfrm>
          <a:prstGeom prst="rect">
            <a:avLst/>
          </a:prstGeom>
          <a:solidFill>
            <a:srgbClr val="F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63347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Unicité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560320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ABAF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2651760"/>
            <a:ext cx="38404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PK unique, plus un contrôle de quasi-doublon sismique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36976"/>
            <a:ext cx="6675120" cy="6766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3236976"/>
            <a:ext cx="54864" cy="67665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43814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Validité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3364992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8B90"/>
                </a:solidFill>
                <a:latin typeface="Calibri Light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456432"/>
            <a:ext cx="38404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URL en http(s), longitude ± 180, magnitude dans [-1, 10]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41648"/>
            <a:ext cx="6675120" cy="6766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041648"/>
            <a:ext cx="54864" cy="676656"/>
          </a:xfrm>
          <a:prstGeom prst="rect">
            <a:avLst/>
          </a:prstGeom>
          <a:solidFill>
            <a:srgbClr val="B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424281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Cohérence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4169663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6D73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4261104"/>
            <a:ext cx="38404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tsunami ↔ magnitude, dates jamais dans le futur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46320"/>
            <a:ext cx="6675120" cy="676656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846320"/>
            <a:ext cx="54864" cy="676656"/>
          </a:xfrm>
          <a:prstGeom prst="rect">
            <a:avLst/>
          </a:prstGeom>
          <a:solidFill>
            <a:srgbClr val="7E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504748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Intégrité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4974336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5259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5065776"/>
            <a:ext cx="38404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tout enfant a son parent : event_category → event, → category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16367" y="1627632"/>
            <a:ext cx="4108399" cy="1737360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16367" y="1865376"/>
            <a:ext cx="4108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800" b="1" i="0">
                <a:solidFill>
                  <a:srgbClr val="FF6B6F"/>
                </a:solidFill>
                <a:latin typeface="Calibri Light"/>
              </a:defRPr>
            </a:pPr>
            <a: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7" y="2779776"/>
            <a:ext cx="41083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F2F2F4"/>
                </a:solidFill>
                <a:latin typeface="Calibri"/>
              </a:defRPr>
            </a:pPr>
            <a:r>
              <a:t>contrôles au total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16367" y="3547872"/>
            <a:ext cx="4108399" cy="1627632"/>
          </a:xfrm>
          <a:prstGeom prst="roundRect">
            <a:avLst>
              <a:gd name="adj" fmla="val 3500"/>
            </a:avLst>
          </a:prstGeom>
          <a:solidFill>
            <a:srgbClr val="0F0F12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54111" y="3749039"/>
            <a:ext cx="36511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E5E68"/>
                </a:solidFill>
                <a:latin typeface="Consolas"/>
              </a:defRPr>
            </a:pPr>
            <a:r>
              <a:t>une fonction, un contrôle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4111" y="4078224"/>
            <a:ext cx="365119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F6B6F"/>
                </a:solidFill>
                <a:latin typeface="Consolas"/>
              </a:defRPr>
            </a:pPr>
            <a:r>
              <a:t>audit_control(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onsolas"/>
              </a:defRPr>
            </a:pPr>
            <a:r>
              <a:t>  p_schema, p_table,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onsolas"/>
              </a:defRPr>
            </a:pPr>
            <a:r>
              <a:t>  p_where, p_details 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7" y="5340096"/>
            <a:ext cx="3925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Deux COUNT, puis une insertion dans data_quality_report. Ajouter un contrôle, c'est écrire une ligne de SQL — la matrice est extensible à d'autres tables sans toucher au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TP3 — Stratégie de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Quatre stratégies, une règle : récupérer tant que la sémantique est préservée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TP3 · Audit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9905752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2641015" cy="283464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2641015" cy="64008"/>
          </a:xfrm>
          <a:prstGeom prst="rect">
            <a:avLst/>
          </a:prstGeom>
          <a:solidFill>
            <a:srgbClr val="FF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1847088"/>
            <a:ext cx="22021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alibri"/>
              </a:defRPr>
            </a:pPr>
            <a:r>
              <a:t>Imputation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176272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CBCD"/>
                </a:solidFill>
                <a:latin typeface="Calibri"/>
              </a:defRPr>
            </a:pPr>
            <a:r>
              <a:t>Remplacer le NULL par une valeur neutre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724912"/>
            <a:ext cx="22021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description → ''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mag_type → 'unknown'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place → 'unknown'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931920"/>
            <a:ext cx="2202103" cy="10972"/>
          </a:xfrm>
          <a:prstGeom prst="rect">
            <a:avLst/>
          </a:prstGeom>
          <a:solidFill>
            <a:srgbClr val="2E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4041648"/>
            <a:ext cx="2202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E5E68"/>
                </a:solidFill>
                <a:latin typeface="Consolas"/>
              </a:defRPr>
            </a:pPr>
            <a:r>
              <a:t>C02, C05, C06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2535" y="1627632"/>
            <a:ext cx="2641015" cy="283464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2535" y="1627632"/>
            <a:ext cx="2641015" cy="64008"/>
          </a:xfrm>
          <a:prstGeom prst="rect">
            <a:avLst/>
          </a:prstGeom>
          <a:solidFill>
            <a:srgbClr val="F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1991" y="1847088"/>
            <a:ext cx="22021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alibri"/>
              </a:defRPr>
            </a:pPr>
            <a:r>
              <a:t>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1991" y="2176272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ABAF"/>
                </a:solidFill>
                <a:latin typeface="Calibri"/>
              </a:defRPr>
            </a:pPr>
            <a:r>
              <a:t>Normaliser une valeur récupérable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1991" y="2724912"/>
            <a:ext cx="22021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URL sans schéma → préfixe https://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title → btrim()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dédup sur id, garde _ingested_at le plus récent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91991" y="3931920"/>
            <a:ext cx="2202103" cy="10972"/>
          </a:xfrm>
          <a:prstGeom prst="rect">
            <a:avLst/>
          </a:prstGeom>
          <a:solidFill>
            <a:srgbClr val="2E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1991" y="4041648"/>
            <a:ext cx="2202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E5E68"/>
                </a:solidFill>
                <a:latin typeface="Consolas"/>
              </a:defRPr>
            </a:pPr>
            <a:r>
              <a:t>V01, V02, U01→U05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8143" y="1627632"/>
            <a:ext cx="2641015" cy="283464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8143" y="1627632"/>
            <a:ext cx="2641015" cy="6400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7599" y="1847088"/>
            <a:ext cx="22021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alibri"/>
              </a:defRPr>
            </a:pPr>
            <a:r>
              <a:t>Suppression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7599" y="2176272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8B90"/>
                </a:solidFill>
                <a:latin typeface="Calibri"/>
              </a:defRPr>
            </a:pPr>
            <a:r>
              <a:t>Éliminer l'irrécupérable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7599" y="2724912"/>
            <a:ext cx="22021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coordonnées hors bornes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magnitude ou profondeur impossible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event sans titre ou sans lien, FK orphelines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7599" y="3931920"/>
            <a:ext cx="2202103" cy="10972"/>
          </a:xfrm>
          <a:prstGeom prst="rect">
            <a:avLst/>
          </a:prstGeom>
          <a:solidFill>
            <a:srgbClr val="2E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97599" y="4041648"/>
            <a:ext cx="2202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E5E68"/>
                </a:solidFill>
                <a:latin typeface="Consolas"/>
              </a:defRPr>
            </a:pPr>
            <a:r>
              <a:t>C01, C03, C08, V03→V08, I01→I05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3751" y="1627632"/>
            <a:ext cx="2641015" cy="283464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83751" y="1627632"/>
            <a:ext cx="2641015" cy="64008"/>
          </a:xfrm>
          <a:prstGeom prst="rect">
            <a:avLst/>
          </a:prstGeom>
          <a:solidFill>
            <a:srgbClr val="B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3207" y="1847088"/>
            <a:ext cx="22021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2F2F4"/>
                </a:solidFill>
                <a:latin typeface="Calibri"/>
              </a:defRPr>
            </a:pPr>
            <a:r>
              <a:t>Conservation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3207" y="2176272"/>
            <a:ext cx="22021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6D73"/>
                </a:solidFill>
                <a:latin typeface="Calibri"/>
              </a:defRPr>
            </a:pPr>
            <a:r>
              <a:t>Garder et documenter le cas ambigu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3207" y="2724912"/>
            <a:ext cx="22021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magnitude NULL : le séisme existe quand même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depth_km NULL : l'absence est une information</a:t>
            </a:r>
          </a:p>
          <a:p>
            <a:pPr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— tsunami avec magnitude &lt; 6.5 : peut être réel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03207" y="3931920"/>
            <a:ext cx="2202103" cy="10972"/>
          </a:xfrm>
          <a:prstGeom prst="rect">
            <a:avLst/>
          </a:prstGeom>
          <a:solidFill>
            <a:srgbClr val="2E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03207" y="4041648"/>
            <a:ext cx="2202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E5E68"/>
                </a:solidFill>
                <a:latin typeface="Consolas"/>
              </a:defRPr>
            </a:pPr>
            <a:r>
              <a:t>C04, C07, U03, Co01, Co02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718304"/>
            <a:ext cx="11057839" cy="1207008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49011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6B6F"/>
                </a:solidFill>
                <a:latin typeface="Consolas"/>
              </a:defRPr>
            </a:pPr>
            <a:r>
              <a:t>ORDRE D'EXÉCUTION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52669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53A4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7" y="52486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Imputation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7007" y="55229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préserver un maximum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913631" y="5344668"/>
            <a:ext cx="365760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61688" y="52669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53A4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7448" y="52486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Correction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7448" y="55229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normaliser puis dédupliquer proprement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434072" y="5344668"/>
            <a:ext cx="365760" cy="100584"/>
          </a:xfrm>
          <a:prstGeom prst="rightArrow">
            <a:avLst/>
          </a:prstGeom>
          <a:solidFill>
            <a:srgbClr val="5E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82127" y="52669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53A4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52486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2F2F4"/>
                </a:solidFill>
                <a:latin typeface="Calibri"/>
              </a:defRPr>
            </a:pPr>
            <a:r>
              <a:t>Suppression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55229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8E8E99"/>
                </a:solidFill>
                <a:latin typeface="Calibri"/>
              </a:defRPr>
            </a:pPr>
            <a:r>
              <a:t>n'enlever que l'irrécupérable restant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TP3 — Criticité et traçabilité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Hiérarchiser les anomalies par impact métier, puis tout tracer en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TP3 · Audit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0667733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CRITICITÉ = IMPACT MÉTIER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11680"/>
            <a:ext cx="4937760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011680"/>
            <a:ext cx="54864" cy="9692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17627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8B90"/>
                </a:solidFill>
                <a:latin typeface="Calibri"/>
              </a:defRPr>
            </a:pPr>
            <a:r>
              <a:t>Haute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50545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2F2F4"/>
                </a:solidFill>
                <a:latin typeface="Calibri"/>
              </a:defRPr>
            </a:pPr>
            <a:r>
              <a:t>Donnée inutilisable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76148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bloquée par un CHECK ou une FK, ou casse une jointure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27248"/>
            <a:ext cx="4937760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3127248"/>
            <a:ext cx="54864" cy="969264"/>
          </a:xfrm>
          <a:prstGeom prst="rect">
            <a:avLst/>
          </a:prstGeom>
          <a:solidFill>
            <a:srgbClr val="F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29184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ABAF"/>
                </a:solidFill>
                <a:latin typeface="Calibri"/>
              </a:defRPr>
            </a:pPr>
            <a:r>
              <a:t>Moyenne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2102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2F2F4"/>
                </a:solidFill>
                <a:latin typeface="Calibri"/>
              </a:defRPr>
            </a:pPr>
            <a:r>
              <a:t>Donnée dégradée mais exploitable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87705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imputation ou vigilance recommandée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42816"/>
            <a:ext cx="4937760" cy="969264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4242816"/>
            <a:ext cx="54864" cy="969264"/>
          </a:xfrm>
          <a:prstGeom prst="rect">
            <a:avLst/>
          </a:prstGeom>
          <a:solidFill>
            <a:srgbClr val="FF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440740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CBCD"/>
                </a:solidFill>
                <a:latin typeface="Calibri"/>
              </a:defRPr>
            </a:pPr>
            <a:r>
              <a:t>Faible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73659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2F2F4"/>
                </a:solidFill>
                <a:latin typeface="Calibri"/>
              </a:defRPr>
            </a:pPr>
            <a:r>
              <a:t>Signal informatif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99262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aucun impact fonctionnel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1627632"/>
            <a:ext cx="5845759" cy="2724912"/>
          </a:xfrm>
          <a:prstGeom prst="roundRect">
            <a:avLst>
              <a:gd name="adj" fmla="val 3500"/>
            </a:avLst>
          </a:prstGeom>
          <a:solidFill>
            <a:srgbClr val="0F0F12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16752" y="1828800"/>
            <a:ext cx="53885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E5E68"/>
                </a:solidFill>
                <a:latin typeface="Consolas"/>
              </a:defRPr>
            </a:pPr>
            <a:r>
              <a:t>table  data_quality_report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2157984"/>
            <a:ext cx="5388559" cy="1993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run_id       UUID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phase        before | after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control_id   C01, U02, V03…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dimension    completude, unicite…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table_name   staging.event…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total_rows   BIGINT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failing_rows BIGINT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F6B6F"/>
                </a:solidFill>
                <a:latin typeface="Consolas"/>
              </a:defRPr>
            </a:pPr>
            <a:r>
              <a:t>fail_rate    GENERATED ALWAYS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E5E68"/>
                </a:solidFill>
                <a:latin typeface="Consolas"/>
              </a:defRPr>
            </a:pPr>
            <a:r>
              <a:t>details      description humaine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4517136"/>
            <a:ext cx="53885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fail_rate est une colonne calculée : failing_rows / total_rows, jamais saisie à la main.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94960"/>
            <a:ext cx="11057839" cy="841248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5522976"/>
            <a:ext cx="45720" cy="585216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532120"/>
            <a:ext cx="10509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Chaque exécution génère un run_id UUID daté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24728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8E8E99"/>
                </a:solidFill>
                <a:latin typeface="Calibri"/>
              </a:defRPr>
            </a:pPr>
            <a:r>
              <a:t>On conserve N runs et on compare la qualité dans le temps — c'est ce qui transforme un contrôle ponctuel en indicateur suivi.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TP3 — Résultats avant et après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./run-audit.sh — un run_id, quatre passes : staging before, public before, cleaning, staging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TP3 · Audit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1429714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2468880" cy="1481328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7922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AVANT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48256"/>
            <a:ext cx="201168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2F2F4"/>
                </a:solidFill>
                <a:latin typeface="Calibri Light"/>
              </a:defRPr>
            </a:pPr>
            <a:r>
              <a:t>129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88336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anomalies</a:t>
            </a:r>
            <a:br/>
            <a:r>
              <a:t>4 contrôles en échec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3824" y="2199132"/>
            <a:ext cx="749808" cy="100584"/>
          </a:xfrm>
          <a:prstGeom prst="rightArrow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414016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FF6B6F"/>
                </a:solidFill>
                <a:latin typeface="Consolas"/>
              </a:defRPr>
            </a:pPr>
            <a:r>
              <a:t>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1648" y="1627632"/>
            <a:ext cx="2468880" cy="1481328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9392" y="17922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APRÈS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048256"/>
            <a:ext cx="201168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2F2F4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2688336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E8E99"/>
                </a:solidFill>
                <a:latin typeface="Calibri"/>
              </a:defRPr>
            </a:pPr>
            <a:r>
              <a:t>anomalies</a:t>
            </a:r>
            <a:br/>
            <a:r>
              <a:t>1 contrôle en échec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4848" y="1627632"/>
            <a:ext cx="4839919" cy="1481328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9168" y="1901952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FF6B6F"/>
                </a:solidFill>
                <a:latin typeface="Calibri Light"/>
              </a:defRPr>
            </a:pPr>
            <a:r>
              <a:t>94 %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938528"/>
            <a:ext cx="22795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F2F4"/>
                </a:solidFill>
                <a:latin typeface="Calibri"/>
              </a:defRPr>
            </a:pPr>
            <a:r>
              <a:t>d'anomalies résolues.</a:t>
            </a:r>
            <a:br/>
            <a:r>
              <a:t>Les 6 % restants sont conservés volontairement, avec justification tracée.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1012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5E68"/>
                </a:solidFill>
                <a:latin typeface="Consolas"/>
              </a:defRPr>
            </a:pPr>
            <a:r>
              <a:t>DÉTAIL DES CONTRÔLES EN ÉCHEC (staging)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0"/>
            <a:ext cx="66347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5E68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0398" y="3657600"/>
            <a:ext cx="14375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5E68"/>
                </a:solidFill>
                <a:latin typeface="Consolas"/>
              </a:defRPr>
            </a:pPr>
            <a:r>
              <a:t>DIMENSION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7917" y="3657600"/>
            <a:ext cx="21009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5E68"/>
                </a:solidFill>
                <a:latin typeface="Consolas"/>
              </a:defRPr>
            </a:pPr>
            <a:r>
              <a:t>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8906" y="3657600"/>
            <a:ext cx="8846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5E68"/>
                </a:solidFill>
                <a:latin typeface="Consolas"/>
              </a:defRPr>
            </a:pPr>
            <a: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3534" y="3657600"/>
            <a:ext cx="8846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5E68"/>
                </a:solidFill>
                <a:latin typeface="Consolas"/>
              </a:defRPr>
            </a:pPr>
            <a:r>
              <a:t>ÉCHEC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8161" y="3657600"/>
            <a:ext cx="8846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5E68"/>
                </a:solidFill>
                <a:latin typeface="Consolas"/>
              </a:defRPr>
            </a:pPr>
            <a:r>
              <a:t>TAUX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2788" y="3657600"/>
            <a:ext cx="420197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5E68"/>
                </a:solidFill>
                <a:latin typeface="Consolas"/>
              </a:defRPr>
            </a:pPr>
            <a:r>
              <a:t>DÉCISION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931920"/>
            <a:ext cx="11057839" cy="10972"/>
          </a:xfrm>
          <a:prstGeom prst="rect">
            <a:avLst/>
          </a:prstGeom>
          <a:solidFill>
            <a:srgbClr val="2E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023360"/>
            <a:ext cx="6634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6B6F"/>
                </a:solidFill>
                <a:latin typeface="Consolas"/>
              </a:defRPr>
            </a:pPr>
            <a:r>
              <a:t>C02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0398" y="4023360"/>
            <a:ext cx="1437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complétude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7917" y="4023360"/>
            <a:ext cx="21009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staging.event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8906" y="4023360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3534" y="4023360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8161" y="4023360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50 %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2788" y="4023360"/>
            <a:ext cx="4201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Imputé — chaîne vide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352544"/>
            <a:ext cx="11277295" cy="347472"/>
          </a:xfrm>
          <a:prstGeom prst="rect">
            <a:avLst/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407408"/>
            <a:ext cx="6634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6B6F"/>
                </a:solidFill>
                <a:latin typeface="Consolas"/>
              </a:defRPr>
            </a:pPr>
            <a:r>
              <a:t>U04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0398" y="4407408"/>
            <a:ext cx="1437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unicité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7917" y="4407408"/>
            <a:ext cx="21009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staging.category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8906" y="4407408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3534" y="4407408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8161" y="4407408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94 %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2788" y="4407408"/>
            <a:ext cx="4201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Dédupliqué — _ingested_at DESC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791456"/>
            <a:ext cx="6634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6B6F"/>
                </a:solidFill>
                <a:latin typeface="Consolas"/>
              </a:defRPr>
            </a:pPr>
            <a:r>
              <a:t>U05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0398" y="4791456"/>
            <a:ext cx="1437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unicité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67917" y="4791456"/>
            <a:ext cx="21009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staging.source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8906" y="4791456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3534" y="4791456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8161" y="4791456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91 %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2788" y="4791456"/>
            <a:ext cx="4201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Dédupliqué — _ingested_at DESC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120640"/>
            <a:ext cx="11277295" cy="347472"/>
          </a:xfrm>
          <a:prstGeom prst="rect">
            <a:avLst/>
          </a:prstGeom>
          <a:solidFill>
            <a:srgbClr val="13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" y="5175504"/>
            <a:ext cx="6634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6B6F"/>
                </a:solidFill>
                <a:latin typeface="Consolas"/>
              </a:defRPr>
            </a:pPr>
            <a:r>
              <a:t>Co02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0398" y="5175504"/>
            <a:ext cx="1437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cohérence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67917" y="5175504"/>
            <a:ext cx="21009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staging.earthquake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68906" y="5175504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53534" y="5175504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8161" y="5175504"/>
            <a:ext cx="884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1,4 %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2788" y="5175504"/>
            <a:ext cx="4201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F2F2F4"/>
                </a:solidFill>
                <a:latin typeface="Calibri"/>
              </a:defRPr>
            </a:pPr>
            <a:r>
              <a:t>Conservé — choix métier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705856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1">
                <a:solidFill>
                  <a:srgbClr val="8E8E99"/>
                </a:solidFill>
                <a:latin typeface="Calibri"/>
              </a:defRPr>
            </a:pPr>
            <a:r>
              <a:t>Les 7 conservées : séismes tsunami de magnitude 4.8 à 6.3, Alaska et Pacifique — tsunamis locaux réels, choix métier tracé.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2F2F4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8E8E99"/>
                </a:solidFill>
                <a:latin typeface="Calibri"/>
              </a:defRPr>
            </a:pPr>
            <a:r>
              <a:t>Trois TP, une seule chaîne cohérente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713232" cy="45720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alibri"/>
              </a:defRPr>
            </a:pPr>
            <a:r>
              <a:t>Synthèse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E5E68"/>
                </a:solidFill>
                <a:latin typeface="Consolas"/>
              </a:defRPr>
            </a:pPr>
            <a: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3576218" cy="22860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3576218" cy="6400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865376"/>
            <a:ext cx="302757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E53A40"/>
                </a:solidFill>
                <a:latin typeface="Calibri Light"/>
              </a:defRPr>
            </a:pPr>
            <a:r>
              <a:t>TP1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304288"/>
            <a:ext cx="30275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Cartographier et modéliser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724912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Cartographie des deux sources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8 tables, MCD et MLD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PostgreSQL contraint dès le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1627632"/>
            <a:ext cx="3576218" cy="22860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07738" y="1627632"/>
            <a:ext cx="3576218" cy="6400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2058" y="1865376"/>
            <a:ext cx="302757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E53A40"/>
                </a:solidFill>
                <a:latin typeface="Calibri Light"/>
              </a:defRPr>
            </a:pPr>
            <a:r>
              <a:t>TP2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2058" y="2304288"/>
            <a:ext cx="30275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Industrialiser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058" y="2724912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16 conteneurs, un docker-compose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Kafka → S3 → PySpark → PostgreSQL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Metabase et Grafana auto-provisionnés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8548" y="1627632"/>
            <a:ext cx="3576218" cy="2286000"/>
          </a:xfrm>
          <a:prstGeom prst="roundRect">
            <a:avLst>
              <a:gd name="adj" fmla="val 3500"/>
            </a:avLst>
          </a:prstGeom>
          <a:solidFill>
            <a:srgbClr val="16161A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8548" y="1627632"/>
            <a:ext cx="3576218" cy="64008"/>
          </a:xfrm>
          <a:prstGeom prst="rect">
            <a:avLst/>
          </a:prstGeom>
          <a:solidFill>
            <a:srgbClr val="E5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2868" y="1865376"/>
            <a:ext cx="302757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E53A40"/>
                </a:solidFill>
                <a:latin typeface="Calibri Light"/>
              </a:defRPr>
            </a:pPr>
            <a:r>
              <a:t>TP3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2304288"/>
            <a:ext cx="30275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2F2F4"/>
                </a:solidFill>
                <a:latin typeface="Calibri"/>
              </a:defRPr>
            </a:pPr>
            <a:r>
              <a:t>Prouver la qualité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868" y="2724912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Schéma staging pour matérialiser l'avant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32 contrôles sur 5 dimensions</a:t>
            </a:r>
          </a:p>
          <a:p>
            <a:pPr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— 94 % d'anomalies résolues, tout tracé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169663"/>
            <a:ext cx="11057839" cy="969264"/>
          </a:xfrm>
          <a:prstGeom prst="roundRect">
            <a:avLst>
              <a:gd name="adj" fmla="val 3500"/>
            </a:avLst>
          </a:prstGeom>
          <a:solidFill>
            <a:srgbClr val="241113"/>
          </a:solidFill>
          <a:ln w="12700">
            <a:solidFill>
              <a:srgbClr val="3A1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3525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6B6F"/>
                </a:solidFill>
                <a:latin typeface="Consolas"/>
              </a:defRPr>
            </a:pPr>
            <a:r>
              <a:t>DEUX COMMANDES SUFFISENT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681727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2F2F4"/>
                </a:solidFill>
                <a:latin typeface="Consolas"/>
              </a:defRPr>
            </a:pPr>
            <a:r>
              <a:t>./start.sh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71830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toute la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681727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2F2F4"/>
                </a:solidFill>
                <a:latin typeface="Consolas"/>
              </a:defRPr>
            </a:pPr>
            <a:r>
              <a:t>./TP3/run-audit.sh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4718303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8E8E99"/>
                </a:solidFill>
                <a:latin typeface="Calibri"/>
              </a:defRPr>
            </a:pPr>
            <a:r>
              <a:t>l'audit qualité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44982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2F2F4"/>
                </a:solidFill>
                <a:latin typeface="Calibri"/>
              </a:defRPr>
            </a:pPr>
            <a:r>
              <a:t>Merci — vos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3D3D3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2075</Words>
  <Application>Microsoft Office PowerPoint</Application>
  <PresentationFormat>Grand écran</PresentationFormat>
  <Paragraphs>428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CHEKRAOUI Mathis</cp:lastModifiedBy>
  <cp:revision>3</cp:revision>
  <dcterms:created xsi:type="dcterms:W3CDTF">2013-01-27T09:14:16Z</dcterms:created>
  <dcterms:modified xsi:type="dcterms:W3CDTF">2026-09-28T12:03:41Z</dcterms:modified>
  <cp:category/>
</cp:coreProperties>
</file>